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93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0" y="18288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111827"/>
                </a:solidFill>
              </a:rPr>
              <a:t>CPU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905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858000" y="274320"/>
            <a:ext cx="2011680" cy="347472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8580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COMPUTER ARCHITECTURE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C9A7"/>
                </a:solidFill>
              </a:rPr>
              <a:t>"Branch Prediction"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Optimization via Branchless Coding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 Data Compression Algorithms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41148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Ertuğrul Burak MATARACI  &amp;  İlker AYDIN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Students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</a:rPr>
              <a:t>BRANCHLESS CODING IN COMPRESSION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What we'll cover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55448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640080" cy="1554480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Define the hardware bottleneck caused by branch mispredictions in standard code.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4114800" cy="155448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800600" y="1280160"/>
            <a:ext cx="640080" cy="155448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874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Explain our project goals and the analysis tools we selected.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155448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640080" cy="155448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Methodology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703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Showcase our system architecture and current implementation status.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108960"/>
            <a:ext cx="4114800" cy="155448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800600" y="3108960"/>
            <a:ext cx="640080" cy="155448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00600" y="3611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3703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Present quantitative results and conduct an architectural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Hardware Bottleneck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Why branch mispredictions matter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669280" cy="105156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73152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Pipeline Flush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When a processor predicts incorrectly, its entire pipeline is flushed, resulting in a significant waste of clock cycles.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5669280" cy="105156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Branching Instructions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90779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Mispredictions made during branching instructions (such as if-else blocks) create a major performance bottleneck in computer architecture.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5669280" cy="105156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Compression Algorithms Suffer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414223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Data compression algorithms like Run-Length Encoding (RLE) and LZW suffer heavily due to their continuous conditional checks.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Normal Pipeline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438912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76288" y="1554480"/>
            <a:ext cx="438912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876288" y="155448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51776" y="1554480"/>
            <a:ext cx="438912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351776" y="155448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27264" y="1554480"/>
            <a:ext cx="438912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827264" y="155448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02752" y="1554480"/>
            <a:ext cx="438912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302752" y="155448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</a:rPr>
              <a:t>After Misprediction (FLUSH)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560320"/>
            <a:ext cx="438912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400800" y="256032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76288" y="2560320"/>
            <a:ext cx="438912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876288" y="256032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51776" y="2560320"/>
            <a:ext cx="438912" cy="5029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7351776" y="256032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27264" y="2560320"/>
            <a:ext cx="438912" cy="5029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827264" y="256032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02752" y="2560320"/>
            <a:ext cx="438912" cy="5029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8302752" y="256032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0" y="3291840"/>
            <a:ext cx="2377440" cy="141732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40080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~20-35%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40080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Misprediction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(Baseline)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Goal &amp; Solution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From conditional branches to branchless logic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00C9A7">
              <a:alpha val="12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9A7"/>
                </a:solidFill>
              </a:rPr>
              <a:t>🎯  PRIMARY 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Identify heavy if-else blocks within algorithms and make them completely branchless.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2697480" cy="256032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Identify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Locate heavy if-else conditional branches in RLE and LZW compression algorithms.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194560"/>
            <a:ext cx="2697480" cy="25603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383280" y="2331720"/>
            <a:ext cx="594360" cy="59436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Transform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349300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Replace conditional jumps with bitwise operators (&amp;, |, ~) for mathematical evaluations.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194560"/>
            <a:ext cx="2697480" cy="256032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17920" y="2331720"/>
            <a:ext cx="594360" cy="59436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21792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Eliminate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349300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Remove the processor's need to make predictions and significantly reduce latency.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81528" y="3383280"/>
            <a:ext cx="7315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5916168" y="3383280"/>
            <a:ext cx="7315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Development &amp; Analysis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Technology stack and measurement methodology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097280" cy="10972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 Language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76479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Developed entirely in C to maintain full control over the memory hierarchy and low-level operations.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8412480" cy="109728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1097280" cy="109728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65760" y="249631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x86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263347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x86-64 ISA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026664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Targeting the universal x86-64 Instruction Set Architecture for hardware-level testing and validation.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8412480" cy="109728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65760" y="3758184"/>
            <a:ext cx="1097280" cy="10972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65760" y="3758184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AMD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389534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AMD uProf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28853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Utilized to catch branch prediction errors directly at the microarchitecture level with hardware counters.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Performance Evaluation Metrics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How we measure hardware-level improvements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14300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73152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498080" y="1325880"/>
            <a:ext cx="1097280" cy="960120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498080" y="134416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</a:rPr>
              <a:t>72.21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0" y="18562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Branchless (vs 31.97)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</a:rPr>
              <a:t>MB/s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170992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Throughput (MB/s)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02996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Measures overall operational data speed. Indicates how much data the algorithm processes per second under real workload.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32888"/>
            <a:ext cx="8412480" cy="114300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65760" y="2532888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498080" y="2624328"/>
            <a:ext cx="1097280" cy="9601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498080" y="264261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0" y="31546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Target (Branchless)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26243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BMR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300837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Branch Misprediction Ratio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328416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Verifies at the hardware level whether our branchless algorithm actually prevents pipeline flushes. A lower ratio = fewer wasted cycles.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31336"/>
            <a:ext cx="8412480" cy="114300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65760" y="3831336"/>
            <a:ext cx="73152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498080" y="3922776"/>
            <a:ext cx="1097280" cy="96012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7498080" y="394106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~2.1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98080" y="44531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Achieved (vs ~13.2)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864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CPI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430682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Cycles Per Instruction (CPI)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62686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Allows us to compare the clock cycle cost of both code segments on the processor. Lower CPI = more efficient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Data flow and hardware monitoring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011680" cy="914400"/>
          </a:xfrm>
          <a:prstGeom prst="rect">
            <a:avLst/>
          </a:prstGeom>
          <a:solidFill>
            <a:srgbClr val="1A2235"/>
          </a:solidFill>
          <a:ln w="2540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Byte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2240280"/>
            <a:ext cx="6400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92608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828800"/>
            <a:ext cx="2194560" cy="914400"/>
          </a:xfrm>
          <a:prstGeom prst="rect">
            <a:avLst/>
          </a:prstGeom>
          <a:solidFill>
            <a:srgbClr val="1A2235"/>
          </a:solidFill>
          <a:ln w="254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108960" y="1828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ROUTER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1234440"/>
            <a:ext cx="2194560" cy="548640"/>
          </a:xfrm>
          <a:prstGeom prst="rect">
            <a:avLst/>
          </a:prstGeom>
          <a:solidFill>
            <a:srgbClr val="EF4444">
              <a:alpha val="15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108960" y="1234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</a:rPr>
              <a:t>If-Else Logic (Baseline)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788920"/>
            <a:ext cx="2194560" cy="548640"/>
          </a:xfrm>
          <a:prstGeom prst="rect">
            <a:avLst/>
          </a:prstGeom>
          <a:solidFill>
            <a:srgbClr val="00C9A7">
              <a:alpha val="15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108960" y="2788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</a:rPr>
              <a:t>Bitwise Masking (Optimized)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2377440" cy="914400"/>
          </a:xfrm>
          <a:prstGeom prst="rect">
            <a:avLst/>
          </a:prstGeom>
          <a:solidFill>
            <a:srgbClr val="1A2235"/>
          </a:solidFill>
          <a:ln w="2540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x86-64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PMU Monitor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49240" y="2240280"/>
            <a:ext cx="10058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The architecture processes raw byte streams by routing them through either traditional if-else logic or bitwise masking techniques. The executed x86-64 instructions are then monitored by hardware Performance Monitoring Units to generate profile reports.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Implementation Status &amp; "Proof of Life"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Both implementations verified and running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 RLE Implementation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✓ Complete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Branchless RLE Implementation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764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✓ Complete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11480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AMD uProf Integration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044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✓ Active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411480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524 MB Dataset 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044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✓ Verified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11480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73152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 Benchmarking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325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</a:rPr>
              <a:t>✓ Measured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794760"/>
            <a:ext cx="4114800" cy="100584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Architectural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325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</a:rPr>
              <a:t>✓ Done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Baseline Logic (The Bottleneck)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Standard if-else implementation analysis</a:t>
            </a:r>
            <a:endParaRPr lang="en-US" sz="1100" dirty="0"/>
          </a:p>
        </p:txBody>
      </p:sp>
      <p:pic>
        <p:nvPicPr>
          <p:cNvPr id="6" name="Image 0" descr="/home/claude/code_slide9.png"/>
          <p:cNvPicPr>
            <a:picLocks noChangeAspect="1"/>
          </p:cNvPicPr>
          <p:nvPr/>
        </p:nvPicPr>
        <p:blipFill>
          <a:blip r:embed="rId3"/>
          <a:srcRect l="10577" t="10500" r="12034" b="10500"/>
          <a:stretch>
            <a:fillRect/>
          </a:stretch>
        </p:blipFill>
        <p:spPr>
          <a:xfrm>
            <a:off x="815926" y="1408176"/>
            <a:ext cx="3756074" cy="3255264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669280" y="1234440"/>
            <a:ext cx="3108960" cy="160020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5669280" y="1234440"/>
            <a:ext cx="73152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833872" y="13716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Data-Dependent Branch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33872" y="17830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Standard implementation relies on a direct, data-dependent if condition to detect run sequences.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0" y="3063240"/>
            <a:ext cx="3108960" cy="160020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669280" y="306324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833872" y="3200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Unpredictable Pattern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33872" y="3611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Because the data pattern is highly complex, this condition becomes unpredictable, forcing the CPU to guess blindly.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Baseline Performance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AMD Ryzen 6800HS — Baseline RLE Implementation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69164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</a:rPr>
              <a:t>20–35%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Misprediction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Branch Predictor misled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169164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~13.2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00600" y="2194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CPI (Cycles/Instr.)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Highly inefficient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14800" cy="169164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</a:rPr>
              <a:t>31.97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</a:rPr>
              <a:t>MB/s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5760" y="4069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Throughput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Limited by pipeline flushes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3108960"/>
            <a:ext cx="4114800" cy="1691640"/>
          </a:xfrm>
          <a:prstGeom prst="rect">
            <a:avLst/>
          </a:prstGeom>
          <a:solidFill>
            <a:srgbClr val="1A2235"/>
          </a:solidFill>
          <a:ln w="19050">
            <a:solidFill>
              <a:srgbClr val="64748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800600" y="3291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4748B"/>
                </a:solidFill>
              </a:rPr>
              <a:t>15.64s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800600" y="4069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Execution Time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524 MB dataset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Branchless Transformation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Eliminating conditional branches with bitwise operations</a:t>
            </a:r>
            <a:endParaRPr lang="en-US" sz="1100" dirty="0"/>
          </a:p>
        </p:txBody>
      </p:sp>
      <p:pic>
        <p:nvPicPr>
          <p:cNvPr id="6" name="Image 0" descr="/home/claude/code_slide11.png"/>
          <p:cNvPicPr>
            <a:picLocks noChangeAspect="1"/>
          </p:cNvPicPr>
          <p:nvPr/>
        </p:nvPicPr>
        <p:blipFill>
          <a:blip r:embed="rId3"/>
          <a:srcRect l="9753" t="9249" r="9890" b="11472"/>
          <a:stretch>
            <a:fillRect/>
          </a:stretch>
        </p:blipFill>
        <p:spPr>
          <a:xfrm>
            <a:off x="773723" y="1371601"/>
            <a:ext cx="3882683" cy="329184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669280" y="1234440"/>
            <a:ext cx="3108960" cy="160020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5669280" y="1234440"/>
            <a:ext cx="73152" cy="1600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833872" y="13716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Conditional Branches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33872" y="17830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Completely removed conditional branches and replaced with bitwise conditional assignments and masking operations.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0" y="3063240"/>
            <a:ext cx="3108960" cy="160020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669280" y="3063240"/>
            <a:ext cx="73152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833872" y="3200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Mathematical Evaluation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33872" y="3611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Logic mathematically evaluates conditions and performs unconditional memory writes, bypassing the branch predictor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Visual Evidence of Execution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Terminal output confirms successful processing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2194560"/>
          </a:xfrm>
          <a:prstGeom prst="rect">
            <a:avLst/>
          </a:prstGeom>
          <a:solidFill>
            <a:srgbClr val="0D1117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23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216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⬤  Baseline RLE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./baseline_rle input.bin output.bin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 524,288,724 bytes...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093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Predictor: ACTIVE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Misprediction rate: ~28.4%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877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CPI: 13.2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 Time: 15.641 seconds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Throughput: 31.97 MB/s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023360" cy="2194560"/>
          </a:xfrm>
          <a:prstGeom prst="rect">
            <a:avLst/>
          </a:prstGeom>
          <a:solidFill>
            <a:srgbClr val="0D1117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023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937760" y="1216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</a:rPr>
              <a:t>⬤  Branchless RLE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6002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./branchless_rle input.bin output.bin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847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 524,288,724 bytes...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093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Predictor: BYPASSED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3408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Misprediction rate: 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5877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CPI: 2.1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8346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 Time: 6.924 seconds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0815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Throughput: 72.21 MB/s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8412480" cy="114300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94360" y="37033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✓  Both systems successfully processed the exact same 524,288,724-byte complex dataset.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The timing logs clearly illustrate the massive difference in execution speed between the two architectural approaches.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Quantitative Results: Execution &amp; Speed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524 MB dataset — AMD Ryzen 6800HS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00C9A7">
              <a:alpha val="12000"/>
            </a:srgbClr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9A7"/>
                </a:solidFill>
              </a:rPr>
              <a:t>2.25×  Faster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+125% speed increase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29844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The branchless algorithm delivers dramatically superior throughput by eliminating all branch mispredictions and reducing pipeline stalls to zero.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2286000" cy="475488"/>
          </a:xfrm>
          <a:prstGeom prst="rect">
            <a:avLst/>
          </a:prstGeom>
          <a:solidFill>
            <a:srgbClr val="00C9A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76072" y="2496312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</a:rPr>
              <a:t>Metric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2423160"/>
            <a:ext cx="2011680" cy="475488"/>
          </a:xfrm>
          <a:prstGeom prst="rect">
            <a:avLst/>
          </a:prstGeom>
          <a:solidFill>
            <a:srgbClr val="00C9A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862072" y="2496312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</a:rPr>
              <a:t>Baseline (if-else)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423160"/>
            <a:ext cx="2011680" cy="475488"/>
          </a:xfrm>
          <a:prstGeom prst="rect">
            <a:avLst/>
          </a:prstGeom>
          <a:solidFill>
            <a:srgbClr val="00C9A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873752" y="2496312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</a:rPr>
              <a:t>Branchless (bitwise)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2423160"/>
            <a:ext cx="1645920" cy="475488"/>
          </a:xfrm>
          <a:prstGeom prst="rect">
            <a:avLst/>
          </a:prstGeom>
          <a:solidFill>
            <a:srgbClr val="00C9A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885432" y="2496312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E1A"/>
                </a:solidFill>
              </a:rPr>
              <a:t>Improvement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898648"/>
            <a:ext cx="228600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76072" y="297180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Execution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8920" y="2898648"/>
            <a:ext cx="2011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862072" y="297180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15.641 seconds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898648"/>
            <a:ext cx="2011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73752" y="297180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6.924 seconds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2898648"/>
            <a:ext cx="164592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885432" y="2971800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↓ 55.7%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374136"/>
            <a:ext cx="2286000" cy="475488"/>
          </a:xfrm>
          <a:prstGeom prst="rect">
            <a:avLst/>
          </a:prstGeom>
          <a:solidFill>
            <a:srgbClr val="1A223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76072" y="344728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Throughput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88920" y="3374136"/>
            <a:ext cx="2011680" cy="475488"/>
          </a:xfrm>
          <a:prstGeom prst="rect">
            <a:avLst/>
          </a:prstGeom>
          <a:solidFill>
            <a:srgbClr val="1A223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2862072" y="344728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31.97 MB/s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3374136"/>
            <a:ext cx="2011680" cy="475488"/>
          </a:xfrm>
          <a:prstGeom prst="rect">
            <a:avLst/>
          </a:prstGeom>
          <a:solidFill>
            <a:srgbClr val="1A223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73752" y="344728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72.21 MB/s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12280" y="3374136"/>
            <a:ext cx="1645920" cy="475488"/>
          </a:xfrm>
          <a:prstGeom prst="rect">
            <a:avLst/>
          </a:prstGeom>
          <a:solidFill>
            <a:srgbClr val="1A223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885432" y="3447288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↑ 125.8%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3849624"/>
            <a:ext cx="228600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576072" y="3922776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Misprediction Rate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88920" y="3849624"/>
            <a:ext cx="2011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2862072" y="392277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20–35%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3849624"/>
            <a:ext cx="2011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73752" y="392277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12280" y="3849624"/>
            <a:ext cx="164592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885432" y="392277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Eliminated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" y="4325112"/>
            <a:ext cx="2286000" cy="475488"/>
          </a:xfrm>
          <a:prstGeom prst="rect">
            <a:avLst/>
          </a:prstGeom>
          <a:solidFill>
            <a:srgbClr val="1A223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76072" y="4398264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CPI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88920" y="4325112"/>
            <a:ext cx="2011680" cy="475488"/>
          </a:xfrm>
          <a:prstGeom prst="rect">
            <a:avLst/>
          </a:prstGeom>
          <a:solidFill>
            <a:srgbClr val="1A223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2862072" y="4398264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~13.2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00600" y="4325112"/>
            <a:ext cx="2011680" cy="475488"/>
          </a:xfrm>
          <a:prstGeom prst="rect">
            <a:avLst/>
          </a:prstGeom>
          <a:solidFill>
            <a:srgbClr val="1A223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873752" y="4398264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~2.1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12280" y="4325112"/>
            <a:ext cx="1645920" cy="475488"/>
          </a:xfrm>
          <a:prstGeom prst="rect">
            <a:avLst/>
          </a:prstGeom>
          <a:solidFill>
            <a:srgbClr val="1A223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885432" y="4398264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</a:rPr>
              <a:t>↓ 84.1%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Architectural Analysis (The "Why?")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Understanding the microarchitectural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3258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More Instructions, Better Performance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Although the bitwise implementation forced the compiler to generate a higher number of total x86-64 assembly instructions, it was far more efficient overall.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109728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7315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6060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Pipeline Stalls Eliminated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Processor pipeline stalls were heavily mitigated because branch mispredictions were eliminated down to 0% — no more blind guessing.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73152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CPI Dropped from ~13.2 → ~2.1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The estimated Cycles Per Instruction dropped dramatically, proving that continuous flow outperforms conditional prediction at the microarchitecture level.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40812"/>
            <a:ext cx="8321040" cy="15122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48640" y="4640580"/>
            <a:ext cx="8046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Key Insight: Instruction count ≠ performance. Pipeline efficiency is the true determinant of throughput.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0C9A7">
              <a:alpha val="6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0" y="4572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1164102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Conclusion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41148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Replacing conditional logic with bitwise operations successfully mitigates hardware-level bottlenecks in compression algorithms.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1737360" cy="11887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2.25×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Speedup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3383280"/>
            <a:ext cx="1737360" cy="11887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514600" y="3474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4069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Mispredictions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383280"/>
            <a:ext cx="1737360" cy="11887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434840" y="3474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+125%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34840" y="4069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Throughput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709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Thank you for your time and attention.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1035</Words>
  <Application>Microsoft Office PowerPoint</Application>
  <PresentationFormat>Ekran Gösterisi (16:9)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8" baseType="lpstr">
      <vt:lpstr>Arial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Prediction - Branchless Coding</dc:title>
  <dc:subject>PptxGenJS Presentation</dc:subject>
  <dc:creator>PptxGenJS</dc:creator>
  <cp:lastModifiedBy>Ertuğrul Burak Mataracı</cp:lastModifiedBy>
  <cp:revision>2</cp:revision>
  <dcterms:created xsi:type="dcterms:W3CDTF">2026-05-05T10:05:29Z</dcterms:created>
  <dcterms:modified xsi:type="dcterms:W3CDTF">2026-05-05T10:16:40Z</dcterms:modified>
</cp:coreProperties>
</file>